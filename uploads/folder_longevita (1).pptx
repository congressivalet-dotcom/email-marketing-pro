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914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6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5486400" y="0"/>
            <a:ext cx="54864" cy="51435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548640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1E3550">
              <a:alpha val="60000"/>
            </a:srgbClr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6400800" y="914400"/>
            <a:ext cx="3200400" cy="3200400"/>
          </a:xfrm>
          <a:prstGeom prst="ellipse">
            <a:avLst/>
          </a:prstGeom>
          <a:solidFill>
            <a:srgbClr val="1E3550">
              <a:alpha val="40000"/>
            </a:srgbClr>
          </a:solidFill>
          <a:ln w="6350">
            <a:solidFill>
              <a:srgbClr val="E5C9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7132320" y="1371600"/>
            <a:ext cx="109728" cy="109728"/>
          </a:xfrm>
          <a:prstGeom prst="ellipse">
            <a:avLst/>
          </a:prstGeom>
          <a:solidFill>
            <a:srgbClr val="3ABFB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7589520" y="1737360"/>
            <a:ext cx="109728" cy="109728"/>
          </a:xfrm>
          <a:prstGeom prst="ellipse">
            <a:avLst/>
          </a:prstGeom>
          <a:solidFill>
            <a:srgbClr val="3ABFB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7955280" y="2194560"/>
            <a:ext cx="109728" cy="109728"/>
          </a:xfrm>
          <a:prstGeom prst="ellipse">
            <a:avLst/>
          </a:prstGeom>
          <a:solidFill>
            <a:srgbClr val="3ABFB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7589520" y="2651760"/>
            <a:ext cx="109728" cy="109728"/>
          </a:xfrm>
          <a:prstGeom prst="ellipse">
            <a:avLst/>
          </a:prstGeom>
          <a:solidFill>
            <a:srgbClr val="3ABFB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7132320" y="3017520"/>
            <a:ext cx="109728" cy="109728"/>
          </a:xfrm>
          <a:prstGeom prst="ellipse">
            <a:avLst/>
          </a:prstGeom>
          <a:solidFill>
            <a:srgbClr val="3ABFB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365760" y="274320"/>
            <a:ext cx="1371600" cy="347472"/>
          </a:xfrm>
          <a:prstGeom prst="rect">
            <a:avLst/>
          </a:prstGeom>
          <a:solidFill>
            <a:srgbClr val="C9A84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65760" y="274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ACCREDITATO ECM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65760" y="9144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8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LONGEVITÀ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365760" y="1874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kern="0" spc="300" dirty="0">
                <a:solidFill>
                  <a:srgbClr val="F5F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TERAPIE INFUSIONALI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365760" y="2450592"/>
            <a:ext cx="4114800" cy="2286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65760" y="254203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Progressi clinici, scenari futuri e protocolli infusionali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nell'era della medicina preventiva e di precisione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5029200" cy="822960"/>
          </a:xfrm>
          <a:prstGeom prst="rect">
            <a:avLst/>
          </a:prstGeom>
          <a:solidFill>
            <a:srgbClr val="1B6CA8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48640" y="3547872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84C"/>
                </a:solidFill>
              </a:rPr>
              <a:t>21–22 NOVEMBRE 2026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F5F0E8"/>
                </a:solidFill>
              </a:rPr>
              <a:t>Ospedale San Raffaele  ·  Milano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60720" y="4114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</a:rPr>
              <a:t>In collaborazione con</a:t>
            </a:r>
            <a:endParaRPr lang="en-US" sz="9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5C97A"/>
                </a:solidFill>
              </a:rPr>
              <a:t>Associazioni Scientifiche Nazionali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Evento di formazione per Medici, </a:t>
            </a:r>
            <a:r>
              <a:rPr lang="en-US" sz="900" b="1" dirty="0" err="1">
                <a:solidFill>
                  <a:srgbClr val="0D1B2A"/>
                </a:solidFill>
              </a:rPr>
              <a:t>Infermieri</a:t>
            </a:r>
            <a:r>
              <a:rPr lang="en-US" sz="900" b="1" dirty="0">
                <a:solidFill>
                  <a:srgbClr val="0D1B2A"/>
                </a:solidFill>
              </a:rPr>
              <a:t> e Farmacisti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84C"/>
                </a:solidFill>
              </a:rPr>
              <a:t>PERCHÉ QUESTO CONVEGNO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50292" cy="454914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longevità è la sfida medica del nostro tempo.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terapie infusionali rappresentano uno degli strumenti più innovativi e promettenti per intervenire sui meccanismi biologici dell'invecchiamento. Questo convegno nasce per offrire ai professionisti della salute un aggiornamento scientifico rigoroso, clinicamente orientato e aperto al confronto.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2697480" cy="16459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269748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5760" y="30906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Aumento atteso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dell'aspettativa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 vita sana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5935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B9BB4"/>
                </a:solidFill>
              </a:rPr>
              <a:t>con interventi preventivi integrati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91840" y="2331720"/>
            <a:ext cx="2697480" cy="16459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3291840" y="2331720"/>
            <a:ext cx="269748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291840" y="24231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291840" y="30906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L’aumento </a:t>
            </a:r>
            <a:r>
              <a:rPr lang="en-US" sz="950" dirty="0" err="1">
                <a:solidFill>
                  <a:srgbClr val="F5F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previsto</a:t>
            </a:r>
            <a:r>
              <a:rPr lang="en-US" sz="950" dirty="0">
                <a:solidFill>
                  <a:srgbClr val="F5F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di </a:t>
            </a:r>
            <a:r>
              <a:rPr lang="en-US" sz="950" dirty="0" err="1">
                <a:solidFill>
                  <a:srgbClr val="F5F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richieste</a:t>
            </a:r>
            <a:r>
              <a:rPr lang="en-US" sz="950" dirty="0">
                <a:solidFill>
                  <a:srgbClr val="F5F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di procedure</a:t>
            </a:r>
          </a:p>
          <a:p>
            <a:pPr marL="0" indent="0" algn="ctr">
              <a:buNone/>
            </a:pPr>
            <a:r>
              <a:rPr lang="en-US" sz="950" dirty="0" err="1">
                <a:solidFill>
                  <a:srgbClr val="F5F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Infusionali</a:t>
            </a:r>
            <a:r>
              <a:rPr lang="en-US" sz="950" dirty="0">
                <a:solidFill>
                  <a:srgbClr val="F5F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950" dirty="0" err="1">
                <a:solidFill>
                  <a:srgbClr val="F5F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presso</a:t>
            </a:r>
            <a:r>
              <a:rPr lang="en-US" sz="950" dirty="0">
                <a:solidFill>
                  <a:srgbClr val="F5F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950" dirty="0" err="1">
                <a:solidFill>
                  <a:srgbClr val="F5F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strutture</a:t>
            </a:r>
            <a:r>
              <a:rPr lang="en-US" sz="950" dirty="0">
                <a:solidFill>
                  <a:srgbClr val="F5F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private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35935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 err="1">
                <a:solidFill>
                  <a:srgbClr val="8B9BB4"/>
                </a:solidFill>
              </a:rPr>
              <a:t>Tramite</a:t>
            </a:r>
            <a:r>
              <a:rPr lang="en-US" sz="750" i="1" dirty="0">
                <a:solidFill>
                  <a:srgbClr val="8B9BB4"/>
                </a:solidFill>
              </a:rPr>
              <a:t> </a:t>
            </a:r>
            <a:r>
              <a:rPr lang="en-US" sz="750" i="1" dirty="0" err="1">
                <a:solidFill>
                  <a:srgbClr val="8B9BB4"/>
                </a:solidFill>
              </a:rPr>
              <a:t>protocolli</a:t>
            </a:r>
            <a:r>
              <a:rPr lang="en-US" sz="750" i="1" dirty="0">
                <a:solidFill>
                  <a:srgbClr val="8B9BB4"/>
                </a:solidFill>
              </a:rPr>
              <a:t> </a:t>
            </a:r>
            <a:r>
              <a:rPr lang="en-US" sz="750" i="1" dirty="0" err="1">
                <a:solidFill>
                  <a:srgbClr val="8B9BB4"/>
                </a:solidFill>
              </a:rPr>
              <a:t>ivalidati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217920" y="2331720"/>
            <a:ext cx="2697480" cy="16459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6217920" y="2331720"/>
            <a:ext cx="269748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217920" y="24231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400+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217920" y="30906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Professionisti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attesi al convegno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17920" y="35935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B9BB4"/>
                </a:solidFill>
              </a:rPr>
              <a:t>Medici, </a:t>
            </a:r>
            <a:r>
              <a:rPr lang="en-US" sz="750" i="1" dirty="0" err="1">
                <a:solidFill>
                  <a:srgbClr val="8B9BB4"/>
                </a:solidFill>
              </a:rPr>
              <a:t>infermieri</a:t>
            </a:r>
            <a:r>
              <a:rPr lang="en-US" sz="750" i="1" dirty="0">
                <a:solidFill>
                  <a:srgbClr val="8B9BB4"/>
                </a:solidFill>
              </a:rPr>
              <a:t> e farmacisti accreditati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4160520"/>
            <a:ext cx="8412480" cy="704088"/>
          </a:xfrm>
          <a:prstGeom prst="rect">
            <a:avLst/>
          </a:prstGeom>
          <a:solidFill>
            <a:srgbClr val="1B6CA8">
              <a:alpha val="8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548640" y="4178808"/>
            <a:ext cx="8046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"Non si tratta solo di vivere più a lungo, ma di vivere meglio — e la scienza ci sta dando gli strumenti per farlo."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21–22 Novembre 2026  |  Ospedale San Raffaele, Milano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1B2A"/>
                </a:solidFill>
              </a:rPr>
              <a:t>PROGRAMMA SCIENTIFICO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114800" cy="777240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E5C97A"/>
                </a:solidFill>
              </a:rPr>
              <a:t>GIORNO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NOVEMBRE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4114800" cy="374904"/>
          </a:xfrm>
          <a:prstGeom prst="rect">
            <a:avLst/>
          </a:prstGeom>
          <a:solidFill>
            <a:srgbClr val="16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658368" cy="374904"/>
          </a:xfrm>
          <a:prstGeom prst="rect">
            <a:avLst/>
          </a:prstGeom>
          <a:solidFill>
            <a:srgbClr val="1B6CA8">
              <a:alpha val="7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74320" y="1572768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C97A"/>
                </a:solidFill>
              </a:rPr>
              <a:t>08:30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87552" y="1572768"/>
            <a:ext cx="33649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Registrazione e accoglienza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993392"/>
            <a:ext cx="4114800" cy="374904"/>
          </a:xfrm>
          <a:prstGeom prst="rect">
            <a:avLst/>
          </a:prstGeom>
          <a:solidFill>
            <a:srgbClr val="0F1E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74320" y="1993392"/>
            <a:ext cx="658368" cy="374904"/>
          </a:xfrm>
          <a:prstGeom prst="rect">
            <a:avLst/>
          </a:prstGeom>
          <a:solidFill>
            <a:srgbClr val="1B6CA8">
              <a:alpha val="7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74320" y="1993392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C97A"/>
                </a:solidFill>
              </a:rPr>
              <a:t>09:00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87552" y="1993392"/>
            <a:ext cx="33649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</a:rPr>
              <a:t>Apertura lavori — Saluti istituzionali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414016"/>
            <a:ext cx="4114800" cy="374904"/>
          </a:xfrm>
          <a:prstGeom prst="rect">
            <a:avLst/>
          </a:prstGeom>
          <a:solidFill>
            <a:srgbClr val="16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274320" y="2414016"/>
            <a:ext cx="658368" cy="374904"/>
          </a:xfrm>
          <a:prstGeom prst="rect">
            <a:avLst/>
          </a:prstGeom>
          <a:solidFill>
            <a:srgbClr val="1B6CA8">
              <a:alpha val="7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74320" y="2414016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C97A"/>
                </a:solidFill>
              </a:rPr>
              <a:t>09:30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7552" y="2414016"/>
            <a:ext cx="33649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</a:rPr>
              <a:t>Sessione plenaria: Biologia dell'invecchiamento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4114800" cy="374904"/>
          </a:xfrm>
          <a:prstGeom prst="rect">
            <a:avLst/>
          </a:prstGeom>
          <a:solidFill>
            <a:srgbClr val="0F1E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658368" cy="374904"/>
          </a:xfrm>
          <a:prstGeom prst="rect">
            <a:avLst/>
          </a:prstGeom>
          <a:solidFill>
            <a:srgbClr val="1B6CA8">
              <a:alpha val="7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274320" y="2834640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C97A"/>
                </a:solidFill>
              </a:rPr>
              <a:t>11:00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87552" y="2834640"/>
            <a:ext cx="33649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Terapie infusionali — Stato dell'arte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255264"/>
            <a:ext cx="4114800" cy="374904"/>
          </a:xfrm>
          <a:prstGeom prst="rect">
            <a:avLst/>
          </a:prstGeom>
          <a:solidFill>
            <a:srgbClr val="16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274320" y="3255264"/>
            <a:ext cx="658368" cy="374904"/>
          </a:xfrm>
          <a:prstGeom prst="rect">
            <a:avLst/>
          </a:prstGeom>
          <a:solidFill>
            <a:srgbClr val="1B6CA8">
              <a:alpha val="7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274320" y="3255264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C97A"/>
                </a:solidFill>
              </a:rPr>
              <a:t>12:30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7552" y="3255264"/>
            <a:ext cx="33649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</a:rPr>
              <a:t>Pausa pranzo &amp; Networking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675888"/>
            <a:ext cx="4114800" cy="374904"/>
          </a:xfrm>
          <a:prstGeom prst="rect">
            <a:avLst/>
          </a:prstGeom>
          <a:solidFill>
            <a:srgbClr val="0F1E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274320" y="3675888"/>
            <a:ext cx="658368" cy="374904"/>
          </a:xfrm>
          <a:prstGeom prst="rect">
            <a:avLst/>
          </a:prstGeom>
          <a:solidFill>
            <a:srgbClr val="1B6CA8">
              <a:alpha val="7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274320" y="3675888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C97A"/>
                </a:solidFill>
              </a:rPr>
              <a:t>14:00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87552" y="3675888"/>
            <a:ext cx="33649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</a:rPr>
              <a:t>Workshop: Protocolli clinici a confronto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096512"/>
            <a:ext cx="4114800" cy="374904"/>
          </a:xfrm>
          <a:prstGeom prst="rect">
            <a:avLst/>
          </a:prstGeom>
          <a:solidFill>
            <a:srgbClr val="16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274320" y="4096512"/>
            <a:ext cx="658368" cy="374904"/>
          </a:xfrm>
          <a:prstGeom prst="rect">
            <a:avLst/>
          </a:prstGeom>
          <a:solidFill>
            <a:srgbClr val="1B6CA8">
              <a:alpha val="7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274320" y="4096512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C97A"/>
                </a:solidFill>
              </a:rPr>
              <a:t>15:30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87552" y="4096512"/>
            <a:ext cx="33649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Tavola rotonda 1 — Casi clinici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517136"/>
            <a:ext cx="4114800" cy="374904"/>
          </a:xfrm>
          <a:prstGeom prst="rect">
            <a:avLst/>
          </a:prstGeom>
          <a:solidFill>
            <a:srgbClr val="0F1E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274320" y="4517136"/>
            <a:ext cx="658368" cy="374904"/>
          </a:xfrm>
          <a:prstGeom prst="rect">
            <a:avLst/>
          </a:prstGeom>
          <a:solidFill>
            <a:srgbClr val="1B6CA8">
              <a:alpha val="7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274320" y="4517136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C97A"/>
                </a:solidFill>
              </a:rPr>
              <a:t>17:30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87552" y="4517136"/>
            <a:ext cx="33649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</a:rPr>
              <a:t>Chiusura lavori — Q&amp;A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685800"/>
            <a:ext cx="4114800" cy="777240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4709160" y="685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E5C97A"/>
                </a:solidFill>
              </a:rPr>
              <a:t>GIORNO 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09160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NOVEMBRE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709160" y="1572768"/>
            <a:ext cx="4114800" cy="374904"/>
          </a:xfrm>
          <a:prstGeom prst="rect">
            <a:avLst/>
          </a:prstGeom>
          <a:solidFill>
            <a:srgbClr val="16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3" name="Shape 41"/>
          <p:cNvSpPr/>
          <p:nvPr/>
        </p:nvSpPr>
        <p:spPr>
          <a:xfrm>
            <a:off x="4709160" y="1572768"/>
            <a:ext cx="658368" cy="374904"/>
          </a:xfrm>
          <a:prstGeom prst="rect">
            <a:avLst/>
          </a:prstGeom>
          <a:solidFill>
            <a:srgbClr val="1B6CA8">
              <a:alpha val="7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4709160" y="1572768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C97A"/>
                </a:solidFill>
              </a:rPr>
              <a:t>09:00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22392" y="1572768"/>
            <a:ext cx="33649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Apertura seconda giornata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1993392"/>
            <a:ext cx="4114800" cy="374904"/>
          </a:xfrm>
          <a:prstGeom prst="rect">
            <a:avLst/>
          </a:prstGeom>
          <a:solidFill>
            <a:srgbClr val="0F1E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7" name="Shape 45"/>
          <p:cNvSpPr/>
          <p:nvPr/>
        </p:nvSpPr>
        <p:spPr>
          <a:xfrm>
            <a:off x="4709160" y="1993392"/>
            <a:ext cx="658368" cy="374904"/>
          </a:xfrm>
          <a:prstGeom prst="rect">
            <a:avLst/>
          </a:prstGeom>
          <a:solidFill>
            <a:srgbClr val="1B6CA8">
              <a:alpha val="7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4709160" y="1993392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C97A"/>
                </a:solidFill>
              </a:rPr>
              <a:t>09:30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22392" y="1993392"/>
            <a:ext cx="33649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</a:rPr>
              <a:t>Sessione: NAD+, Glutatione, Vitamina C ad alte dosi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2414016"/>
            <a:ext cx="4114800" cy="374904"/>
          </a:xfrm>
          <a:prstGeom prst="rect">
            <a:avLst/>
          </a:prstGeom>
          <a:solidFill>
            <a:srgbClr val="16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1" name="Shape 49"/>
          <p:cNvSpPr/>
          <p:nvPr/>
        </p:nvSpPr>
        <p:spPr>
          <a:xfrm>
            <a:off x="4709160" y="2414016"/>
            <a:ext cx="658368" cy="374904"/>
          </a:xfrm>
          <a:prstGeom prst="rect">
            <a:avLst/>
          </a:prstGeom>
          <a:solidFill>
            <a:srgbClr val="1B6CA8">
              <a:alpha val="7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4709160" y="2414016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C97A"/>
                </a:solidFill>
              </a:rPr>
              <a:t>11:00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22392" y="2414016"/>
            <a:ext cx="33649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</a:rPr>
              <a:t>Update farmacologico per farmacisti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09160" y="2834640"/>
            <a:ext cx="4114800" cy="374904"/>
          </a:xfrm>
          <a:prstGeom prst="rect">
            <a:avLst/>
          </a:prstGeom>
          <a:solidFill>
            <a:srgbClr val="0F1E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5" name="Shape 53"/>
          <p:cNvSpPr/>
          <p:nvPr/>
        </p:nvSpPr>
        <p:spPr>
          <a:xfrm>
            <a:off x="4709160" y="2834640"/>
            <a:ext cx="658368" cy="374904"/>
          </a:xfrm>
          <a:prstGeom prst="rect">
            <a:avLst/>
          </a:prstGeom>
          <a:solidFill>
            <a:srgbClr val="1B6CA8">
              <a:alpha val="7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4709160" y="2834640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C97A"/>
                </a:solidFill>
              </a:rPr>
              <a:t>12:30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22392" y="2834640"/>
            <a:ext cx="33649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Pausa pranzo &amp; Poster session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09160" y="3255264"/>
            <a:ext cx="4114800" cy="374904"/>
          </a:xfrm>
          <a:prstGeom prst="rect">
            <a:avLst/>
          </a:prstGeom>
          <a:solidFill>
            <a:srgbClr val="16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9" name="Shape 57"/>
          <p:cNvSpPr/>
          <p:nvPr/>
        </p:nvSpPr>
        <p:spPr>
          <a:xfrm>
            <a:off x="4709160" y="3255264"/>
            <a:ext cx="658368" cy="374904"/>
          </a:xfrm>
          <a:prstGeom prst="rect">
            <a:avLst/>
          </a:prstGeom>
          <a:solidFill>
            <a:srgbClr val="1B6CA8">
              <a:alpha val="7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0" name="Text 58"/>
          <p:cNvSpPr/>
          <p:nvPr/>
        </p:nvSpPr>
        <p:spPr>
          <a:xfrm>
            <a:off x="4709160" y="3255264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C97A"/>
                </a:solidFill>
              </a:rPr>
              <a:t>14:00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22392" y="3255264"/>
            <a:ext cx="33649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</a:rPr>
              <a:t>Tavola rotonda 2 — Futuro della medicina preventiva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09160" y="3675888"/>
            <a:ext cx="4114800" cy="374904"/>
          </a:xfrm>
          <a:prstGeom prst="rect">
            <a:avLst/>
          </a:prstGeom>
          <a:solidFill>
            <a:srgbClr val="0F1E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3" name="Shape 61"/>
          <p:cNvSpPr/>
          <p:nvPr/>
        </p:nvSpPr>
        <p:spPr>
          <a:xfrm>
            <a:off x="4709160" y="3675888"/>
            <a:ext cx="658368" cy="374904"/>
          </a:xfrm>
          <a:prstGeom prst="rect">
            <a:avLst/>
          </a:prstGeom>
          <a:solidFill>
            <a:srgbClr val="1B6CA8">
              <a:alpha val="7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4" name="Text 62"/>
          <p:cNvSpPr/>
          <p:nvPr/>
        </p:nvSpPr>
        <p:spPr>
          <a:xfrm>
            <a:off x="4709160" y="3675888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C97A"/>
                </a:solidFill>
              </a:rPr>
              <a:t>15:30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22392" y="3675888"/>
            <a:ext cx="33649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</a:rPr>
              <a:t>Sessione interattiva: Platea protagonista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709160" y="4096512"/>
            <a:ext cx="4114800" cy="374904"/>
          </a:xfrm>
          <a:prstGeom prst="rect">
            <a:avLst/>
          </a:prstGeom>
          <a:solidFill>
            <a:srgbClr val="16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7" name="Shape 65"/>
          <p:cNvSpPr/>
          <p:nvPr/>
        </p:nvSpPr>
        <p:spPr>
          <a:xfrm>
            <a:off x="4709160" y="4096512"/>
            <a:ext cx="658368" cy="374904"/>
          </a:xfrm>
          <a:prstGeom prst="rect">
            <a:avLst/>
          </a:prstGeom>
          <a:solidFill>
            <a:srgbClr val="1B6CA8">
              <a:alpha val="7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8" name="Text 66"/>
          <p:cNvSpPr/>
          <p:nvPr/>
        </p:nvSpPr>
        <p:spPr>
          <a:xfrm>
            <a:off x="4709160" y="4096512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C97A"/>
                </a:solidFill>
              </a:rPr>
              <a:t>16:30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422392" y="4096512"/>
            <a:ext cx="33649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Conclusioni &amp; Crediti ECM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709160" y="4517136"/>
            <a:ext cx="4114800" cy="374904"/>
          </a:xfrm>
          <a:prstGeom prst="rect">
            <a:avLst/>
          </a:prstGeom>
          <a:solidFill>
            <a:srgbClr val="0F1E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1" name="Shape 69"/>
          <p:cNvSpPr/>
          <p:nvPr/>
        </p:nvSpPr>
        <p:spPr>
          <a:xfrm>
            <a:off x="4709160" y="4517136"/>
            <a:ext cx="658368" cy="374904"/>
          </a:xfrm>
          <a:prstGeom prst="rect">
            <a:avLst/>
          </a:prstGeom>
          <a:solidFill>
            <a:srgbClr val="1B6CA8">
              <a:alpha val="7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2" name="Text 70"/>
          <p:cNvSpPr/>
          <p:nvPr/>
        </p:nvSpPr>
        <p:spPr>
          <a:xfrm>
            <a:off x="4709160" y="4517136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C97A"/>
                </a:solidFill>
              </a:rPr>
              <a:t>17:00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422392" y="4517136"/>
            <a:ext cx="33649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</a:rPr>
              <a:t>Chiusura evento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5" name="Text 7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21–22 Novembre 2026  |  Ospedale San Raffaele, Milano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84C"/>
                </a:solidFill>
              </a:rPr>
              <a:t>TEMI SCIENTIFICI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8346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28600" y="8503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3441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Biologia dell'Invecchiamento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Telomeri, senescenza cellulare, infiammazione cronica e nuovi biomarcatori di longevità.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77724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8346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200400" y="8503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💉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37560" y="13441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Terapie Infusionali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783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NAD+, glutatione ridotto, vitamina C ad alte dosi, NMN e cocktail antiossidanti in protocollo clinico.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77724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172200" y="777240"/>
            <a:ext cx="28346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172200" y="8503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🧬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09360" y="13441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Medicina di Precisione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783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Personalizzazione del trattamento su base genetica, epigenetica e metabolomica.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78892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228600" y="2788920"/>
            <a:ext cx="28346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228600" y="28620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65760" y="33558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0D1B2A"/>
                </a:solidFill>
                <a:latin typeface="Cambria" pitchFamily="34" charset="0"/>
                <a:ea typeface="Cambria" pitchFamily="34" charset="-122"/>
              </a:rPr>
              <a:t>Ruolo</a:t>
            </a: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1100" b="1" dirty="0" err="1">
                <a:solidFill>
                  <a:srgbClr val="0D1B2A"/>
                </a:solidFill>
                <a:latin typeface="Cambria" pitchFamily="34" charset="0"/>
                <a:ea typeface="Cambria" pitchFamily="34" charset="-122"/>
              </a:rPr>
              <a:t>dell’Infermiere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Gestione</a:t>
            </a: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del </a:t>
            </a:r>
            <a:r>
              <a:rPr lang="en-US" sz="900" dirty="0" err="1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paziente</a:t>
            </a: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e delle procedure, </a:t>
            </a:r>
            <a:r>
              <a:rPr lang="en-US" sz="900" dirty="0" err="1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preparazione</a:t>
            </a: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delle </a:t>
            </a:r>
            <a:r>
              <a:rPr lang="en-US" sz="900" dirty="0" err="1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miscele</a:t>
            </a: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900" dirty="0" err="1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infusionali</a:t>
            </a: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900" dirty="0" err="1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</a:t>
            </a: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900" dirty="0" err="1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prescrizione</a:t>
            </a: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medica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78892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3200400" y="2788920"/>
            <a:ext cx="28346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3200400" y="28620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💊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337560" y="33558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Ruolo del Farmacista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Preparazioni galeniche, alleanza terapeutica e aggiornamento </a:t>
            </a:r>
            <a:r>
              <a:rPr lang="en-US" sz="900" dirty="0" err="1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normativo</a:t>
            </a: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900" dirty="0" err="1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sulle</a:t>
            </a: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900" dirty="0" err="1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preparazioni</a:t>
            </a: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infusioni.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72200" y="278892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6172200" y="2788920"/>
            <a:ext cx="28346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172200" y="28620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309360" y="33558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Evidenze Cliniche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delle trial più recenti e presentazione di casi clinici di successo documentati.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21–22 Novembre 2026  |  Ospedale San Raffaele, Milano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1B2A"/>
                </a:solidFill>
              </a:rPr>
              <a:t>RELATORI &amp; FORMAT INTERATTIVO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023360" cy="3977640"/>
          </a:xfrm>
          <a:prstGeom prst="rect">
            <a:avLst/>
          </a:prstGeom>
          <a:solidFill>
            <a:srgbClr val="162233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4023360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</a:rPr>
              <a:t>FACULTY DI ECCELLENZA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Il comitato scientifico ha selezionato i massimi esperti italiani in medicina della longevità, endocrinologia, farmacologia clinica e medicina interna.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93976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F5F0E8"/>
                </a:solidFill>
              </a:rPr>
              <a:t>Ricercatori</a:t>
            </a:r>
            <a:r>
              <a:rPr lang="en-US" sz="1000" dirty="0">
                <a:solidFill>
                  <a:srgbClr val="F5F0E8"/>
                </a:solidFill>
              </a:rPr>
              <a:t> universitari e primari ospedalieri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69464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713232" y="24871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</a:rPr>
              <a:t>Autori di pubblicazioni su riviste peer-reviewed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44952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13232" y="29626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</a:rPr>
              <a:t>Esperti riconosciuti dalle Società Scientifiche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13232" y="34381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</a:rPr>
              <a:t>Relatori con esperienza clinica diretta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931920"/>
            <a:ext cx="4023360" cy="59436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In collaborazione con le principali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Associazioni Scientifiche Nazionali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685800"/>
            <a:ext cx="4297680" cy="3977640"/>
          </a:xfrm>
          <a:prstGeom prst="rect">
            <a:avLst/>
          </a:prstGeom>
          <a:solidFill>
            <a:srgbClr val="162233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4572000" y="685800"/>
            <a:ext cx="4297680" cy="45720"/>
          </a:xfrm>
          <a:prstGeom prst="rect">
            <a:avLst/>
          </a:prstGeom>
          <a:solidFill>
            <a:srgbClr val="3ABFB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754880" y="7498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ABFBF"/>
                </a:solidFill>
              </a:rPr>
              <a:t>FORMAT COINVOLGENTE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1261872"/>
            <a:ext cx="4023360" cy="475488"/>
          </a:xfrm>
          <a:prstGeom prst="rect">
            <a:avLst/>
          </a:prstGeom>
          <a:solidFill>
            <a:srgbClr val="16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754880" y="126187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🎤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7800" y="1280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C97A"/>
                </a:solidFill>
              </a:rPr>
              <a:t>Lectio Magistralis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57800" y="14904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Sessioni frontali con i massimi esperti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1810512"/>
            <a:ext cx="4023360" cy="475488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754880" y="18105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5780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C97A"/>
                </a:solidFill>
              </a:rPr>
              <a:t>Tavole Rotonde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20391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Discussione aperta su casi e controversie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2359152"/>
            <a:ext cx="4023360" cy="475488"/>
          </a:xfrm>
          <a:prstGeom prst="rect">
            <a:avLst/>
          </a:prstGeom>
          <a:solidFill>
            <a:srgbClr val="16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754880" y="235915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5780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C97A"/>
                </a:solidFill>
              </a:rPr>
              <a:t>Workshop Pratici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57800" y="25877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Protocolli e simulazioni in piccoli gruppi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2907792"/>
            <a:ext cx="4023360" cy="475488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754880" y="29077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57800" y="2926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C97A"/>
                </a:solidFill>
              </a:rPr>
              <a:t>Platea Protagonista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57800" y="31363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Q&amp;A live, sondaggi e casi interattivi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9160" y="3456432"/>
            <a:ext cx="4023360" cy="475488"/>
          </a:xfrm>
          <a:prstGeom prst="rect">
            <a:avLst/>
          </a:prstGeom>
          <a:solidFill>
            <a:srgbClr val="16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4754880" y="345643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257800" y="3474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C97A"/>
                </a:solidFill>
              </a:rPr>
              <a:t>Networking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57800" y="36850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Momenti dedicati all'incontro professionale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21–22 Novembre 2026  |  Ospedale San Raffaele, Milano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84C"/>
                </a:solidFill>
              </a:rPr>
              <a:t>INFORMAZIONI &amp; ISCRIZIONI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4864" cy="69494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8138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1B6CA8"/>
                </a:solidFill>
              </a:rPr>
              <a:t>DATE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0424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21–22 Novembre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39319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54864" cy="69494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57200" y="16093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1B6CA8"/>
                </a:solidFill>
              </a:rPr>
              <a:t>SEDE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8379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Ospedale San Raffaele – Palazzo DIBIT1 – Sala </a:t>
            </a:r>
            <a:r>
              <a:rPr lang="en-US" sz="1100" dirty="0" err="1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Plenaria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Via </a:t>
            </a:r>
            <a:r>
              <a:rPr lang="en-US" sz="1100" dirty="0" err="1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Olgettina</a:t>
            </a: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58, Milano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68296"/>
            <a:ext cx="39319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274320" y="2368296"/>
            <a:ext cx="54864" cy="69494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57200" y="2404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1B6CA8"/>
                </a:solidFill>
              </a:rPr>
              <a:t>DESTINATARI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6334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Medici, </a:t>
            </a:r>
            <a:r>
              <a:rPr lang="en-US" sz="1100" dirty="0" err="1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Infermieri</a:t>
            </a: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e Farmacisti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163824"/>
            <a:ext cx="39319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274320" y="3163824"/>
            <a:ext cx="54864" cy="69494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1B6CA8"/>
                </a:solidFill>
              </a:rPr>
              <a:t>ACCREDITAMENTO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ECM — </a:t>
            </a:r>
            <a:r>
              <a:rPr lang="en-US" sz="1100" dirty="0" err="1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Rilascio</a:t>
            </a: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100" dirty="0" err="1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dei</a:t>
            </a: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100" dirty="0" err="1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crediti</a:t>
            </a: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ECM al </a:t>
            </a:r>
            <a:r>
              <a:rPr lang="en-US" sz="1100" dirty="0" err="1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completamento</a:t>
            </a: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del </a:t>
            </a:r>
            <a:r>
              <a:rPr lang="en-US" sz="1100" dirty="0" err="1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percorso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959352"/>
            <a:ext cx="39319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274320" y="3959352"/>
            <a:ext cx="54864" cy="69494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57200" y="39959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1B6CA8"/>
                </a:solidFill>
              </a:rPr>
              <a:t>QUOTE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2245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Iscrizione</a:t>
            </a: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100" dirty="0" err="1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agevolata</a:t>
            </a: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per i soci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delle Associazioni patrocinanti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685800"/>
            <a:ext cx="4297680" cy="39776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4572000" y="685800"/>
            <a:ext cx="4297680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754880" y="822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4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ISCRIVITI ORA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54880" y="1371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Posti limitati — priorità ai soci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B9B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delle Associazioni partner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2011680"/>
            <a:ext cx="3383280" cy="502920"/>
          </a:xfrm>
          <a:prstGeom prst="rect">
            <a:avLst/>
          </a:prstGeom>
          <a:solidFill>
            <a:srgbClr val="C9A84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5029200" y="2011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www.longevita2025.it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2743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</a:rPr>
              <a:t>Per informazioni: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29992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BFBF"/>
                </a:solidFill>
              </a:rPr>
              <a:t>segreteria@longevita2025.it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310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0E8"/>
                </a:solidFill>
              </a:rPr>
              <a:t>+39 02 XXXX XXXX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749040"/>
            <a:ext cx="3931920" cy="685800"/>
          </a:xfrm>
          <a:prstGeom prst="rect">
            <a:avLst/>
          </a:prstGeom>
          <a:solidFill>
            <a:srgbClr val="1B6CA8">
              <a:alpha val="8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846320" y="3767328"/>
            <a:ext cx="3749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Segreteria</a:t>
            </a: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Organizzativa</a:t>
            </a: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VALET </a:t>
            </a:r>
            <a:r>
              <a:rPr lang="en-US" sz="900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srl</a:t>
            </a: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b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</a:b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Provider ECM accreditato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Evento patrocinato da Associazioni Scientifiche Nazionali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21–22 Novembre 2026  |  Ospedale San Raffaele, Milano  |  Accreditato ECM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626</Words>
  <Application>Microsoft Office PowerPoint</Application>
  <PresentationFormat>On-screen Show (16:9)</PresentationFormat>
  <Paragraphs>141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Longevità e Terapie Infusionali - Convegno San Raffaele</dc:title>
  <dc:subject>PptxGenJS Presentation</dc:subject>
  <dc:creator>PptxGenJS</dc:creator>
  <cp:lastModifiedBy>daniele morini</cp:lastModifiedBy>
  <cp:revision>2</cp:revision>
  <dcterms:created xsi:type="dcterms:W3CDTF">2026-04-12T08:08:41Z</dcterms:created>
  <dcterms:modified xsi:type="dcterms:W3CDTF">2026-04-12T09:15:59Z</dcterms:modified>
</cp:coreProperties>
</file>